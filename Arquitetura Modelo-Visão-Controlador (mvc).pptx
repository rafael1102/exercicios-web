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3" r:id="rId4"/>
    <p:sldId id="262" r:id="rId5"/>
    <p:sldId id="264" r:id="rId6"/>
    <p:sldId id="266" r:id="rId7"/>
    <p:sldId id="265" r:id="rId8"/>
    <p:sldId id="272" r:id="rId9"/>
    <p:sldId id="281" r:id="rId10"/>
    <p:sldId id="282" r:id="rId11"/>
    <p:sldId id="283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4" r:id="rId21"/>
    <p:sldId id="285" r:id="rId2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17/12/2025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17/12/2025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39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3211-B9F9-1A12-06F9-6FE6702A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AE537D-04FE-B185-1E8E-9B8210AAD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9F00BF-F6D1-2E61-76C1-63DE76EA4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FEA8D9-AE0E-7A54-2D24-5C276C791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973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0794-650E-4854-7094-3D31FE10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946329-E503-7CD0-2463-01C870419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707CC1-2392-5CF0-5DA4-2F30E1B10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A3200-D3DF-780A-D7C4-B668D7824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531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1C2D-863D-AA7B-1D0C-9964B2E0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3F34DB-26D4-8E88-3604-36F0E4B3D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25EECC-8850-E99C-2AFB-D042B4C0C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4BDFC7-F8A1-B427-8C13-505043B6B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955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8853-B22D-B083-C203-699FC307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6D7F8A-4DE8-5E3D-420E-ECE7A5363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3F6E2B-F4EE-AA0D-1677-8B7E4B20A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72715F-7223-B531-8125-C2FFDDE73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569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EC34-057E-D0E5-53E8-6CC378CD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09817E-001D-00E4-31B9-BD5ACB3C8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23E57D-3FD1-3F59-4951-BCDED7855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EA53CD-306C-0B06-CEBA-0E15B3B2D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2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5A76-536E-102B-C784-52F594CC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686EEC-2EAC-61D7-4AE6-FE02B6936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991F6-26C1-5BE5-19A4-3EC0C11EA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558E1A-6576-666A-A5F8-4F864093E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602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2AED-BD5B-68D7-C761-A8738C3A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8E3834-DF51-EE5E-60DB-ABB2125DC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E7F507-142B-EEA8-81BE-82E73DA88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8BA9C9-2E34-6020-CE03-7667851AE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0458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A599-EA2D-A89B-8D83-0EC47267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D7592D-68AF-BC27-686E-8445BCBB7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BA7BFE-4E27-AA2A-0FFA-D9A344978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7FEFCE-9551-500F-FDD9-3B61B41A3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73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932D-990D-7EC4-92FC-84B4D521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901A57-46D2-82E0-9874-A7FAFB7D8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452B63-3D01-EEB2-5ED1-EE7CFEE66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E24A49-2533-3377-00DB-7CFDF8E16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493F-365C-BDD3-F59F-1C866370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8ABD48-9726-F676-6BAE-C2A21A02C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A35590-F238-95D2-FBD2-47A4A3A05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3CDB9A-E9C7-253C-2BE9-BBC09E991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745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24A7-D427-F3E0-8C01-B886FD80C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537E5A-7ACD-E876-F3E4-BC782D24D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34659A-0E3C-4A79-5992-23ED08B86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4AA88D-7F50-489D-8159-2C1817EF6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17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5F547-2153-51A9-31FC-531171E4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24858-5E8C-3A9A-39DB-141FDBC62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50C161-DF63-9758-F36E-6AA17B003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1AE496-2539-5B1B-488C-349094D5F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449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FCB2-A96E-51F4-F36D-4DB2A2A8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C0E1B0-2D2D-5407-656A-E16685F43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153F99-5F84-513B-9701-660EB5148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490700-56FE-142C-DC85-6F0928E06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433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B256-18EA-FC37-9E96-B2E50AC6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685AC3-FB56-521B-972A-99DD0653B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E28418-1B7D-B2B2-6603-930F9E778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5DD4DF-91DC-1D35-5CD7-B30C53CB1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225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18A0-7B20-B4BF-6C42-D5C4E142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1C23CF-DEDD-ABE8-3C93-0E5D89723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6E9076-F2D1-B718-B981-217C4D711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EFFC6D-156C-91AA-6054-111876C25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7905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C2947-84BA-1040-E704-5341B7C6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5FCF3D-EC9D-0E7F-EBB2-E7F458966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3EE60E-0A9D-1CE2-DD4E-9EF39BEDE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A816C2-4993-E343-3C16-06DA99C76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199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C289-4A7F-7D34-D2CB-EDEF40CA9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16782C-6560-BC1B-49DB-EC1F8A871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018504-560F-7421-F1A2-D4DC92E65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DB13F1-C994-AC4D-2C32-AD179B35F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045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994A-E86B-F799-019D-E187EE3B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7F780E-69AA-8D8D-D8D1-40A4703E9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EDB8C3-9442-1031-9C76-87D3AB4FD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1A5C18-DA86-E03F-E753-B8B1937E7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430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6887-CCAB-9EB1-B064-BC798834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A73B87-BA51-C88B-A537-20AE71493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1E3BF7-1B25-E7F9-D6AF-688B3DCC5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0EFFF6-1E8D-720D-D988-BA00E0053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8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17/12/2025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E&amp;q=http%3A%2F%2Fpt.wikipedia.org%2Fwiki%2FMVC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3200" dirty="0">
                <a:solidFill>
                  <a:schemeClr val="bg1"/>
                </a:solidFill>
              </a:rPr>
              <a:t>Arquitetura Modelo-Visão-Controlador (</a:t>
            </a:r>
            <a:r>
              <a:rPr lang="pt-BR" sz="3200" dirty="0" err="1">
                <a:solidFill>
                  <a:schemeClr val="bg1"/>
                </a:solidFill>
              </a:rPr>
              <a:t>mvc</a:t>
            </a:r>
            <a:r>
              <a:rPr lang="pt-BR" sz="3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7CEBFF"/>
                </a:solidFill>
              </a:rPr>
              <a:t>Discente: Rafael </a:t>
            </a:r>
            <a:r>
              <a:rPr lang="pt-BR" dirty="0" err="1">
                <a:solidFill>
                  <a:srgbClr val="7CEBFF"/>
                </a:solidFill>
              </a:rPr>
              <a:t>mendonça</a:t>
            </a:r>
            <a:endParaRPr lang="pt-BR" dirty="0">
              <a:solidFill>
                <a:srgbClr val="7CEBFF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872E882-E09D-B3CD-A7D7-525C28217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789254"/>
            <a:ext cx="3191727" cy="328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objetivo do MVC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D9DE92B7-E290-68AC-3FAA-3CB7C6DC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Separar os dados ou a lógica de negócios</a:t>
            </a:r>
          </a:p>
          <a:p>
            <a:r>
              <a:rPr lang="pt-BR" sz="2800" dirty="0"/>
              <a:t>Da interface do usuário e do fluxo da aplicação</a:t>
            </a:r>
          </a:p>
          <a:p>
            <a:r>
              <a:rPr lang="pt-BR" sz="2800" dirty="0"/>
              <a:t>Isolar ao máximo a camada de apresentação. O MVC funciona como uma ponte entre o modelo mental do usuário e o modelo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BC24-594F-ED23-76B4-F133D5D9A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7F890-0295-9922-574C-E552A129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sz="3600" b="1" dirty="0"/>
              <a:t>Os Três Pilares do MVC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D6003F-9936-2C1B-E53E-465977293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3000" b="1" dirty="0">
                <a:solidFill>
                  <a:schemeClr val="tx1"/>
                </a:solidFill>
              </a:rPr>
              <a:t>1. Modelo (Model)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062367E-C268-871D-6D44-8D4126EF43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 lnSpcReduction="10000"/>
          </a:bodyPr>
          <a:lstStyle/>
          <a:p>
            <a:r>
              <a:rPr lang="pt-BR" sz="2800" dirty="0"/>
              <a:t>O MVC visa responsabilidades, isolando dados e regras 	de negócio (Modelo), da apresentação (Visão) e do fluxo de aplicação (Controlador), garantindo um código mais limpo e modular.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319C2A9-B6B2-BC78-33FF-F9E2C7A4E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z="3000" b="1" dirty="0">
                <a:solidFill>
                  <a:schemeClr val="tx1"/>
                </a:solidFill>
              </a:rPr>
              <a:t>2. Visão (</a:t>
            </a:r>
            <a:r>
              <a:rPr lang="pt-BR" sz="3000" b="1" dirty="0" err="1">
                <a:solidFill>
                  <a:schemeClr val="tx1"/>
                </a:solidFill>
              </a:rPr>
              <a:t>View</a:t>
            </a:r>
            <a:r>
              <a:rPr lang="pt-BR" sz="30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1745FB99-7FA3-6BBD-24A4-611701979AC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A interface do usuário, responsável por exibir os dados do Modelo. Pode ser qualquer formato de saída, como HTML, JSP ou WML. A Visão acessa o Modelo para determinar como apresentá-lo.</a:t>
            </a:r>
          </a:p>
        </p:txBody>
      </p:sp>
    </p:spTree>
    <p:extLst>
      <p:ext uri="{BB962C8B-B14F-4D97-AF65-F5344CB8AC3E}">
        <p14:creationId xmlns:p14="http://schemas.microsoft.com/office/powerpoint/2010/main" val="132259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DCD3-8E9F-F847-B717-8E4F6EB3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DC810-0C36-4B7D-0FEC-E5B1C600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3. Modelo (Model)</a:t>
            </a:r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FCEF197-1D9D-FC1E-4F90-5F0E02E26F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800" dirty="0"/>
              <a:t>Ele representa os dados empresariais e as regras de negócio que controlam a atualização desses dados, funcionando frequentemente como a aproximação de um processo do mundo real.</a:t>
            </a:r>
          </a:p>
          <a:p>
            <a:r>
              <a:rPr lang="pt-BR" sz="2800" dirty="0"/>
              <a:t>Nele devem estar todas as regras de negócios, e ele pode se comunicar com o banco de dados se necessário.</a:t>
            </a:r>
          </a:p>
        </p:txBody>
      </p:sp>
      <p:pic>
        <p:nvPicPr>
          <p:cNvPr id="2050" name="Picture 2" descr="Diagrama de fluxo MVC">
            <a:extLst>
              <a:ext uri="{FF2B5EF4-FFF2-40B4-BE49-F238E27FC236}">
                <a16:creationId xmlns:a16="http://schemas.microsoft.com/office/drawing/2014/main" id="{1A1EDB54-A498-84CC-6641-D9C7EE414D3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995" y="2388937"/>
            <a:ext cx="5422900" cy="16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19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C036-6A37-4736-FEF8-79A9FAD7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86908-D957-4D16-C7FC-A9545130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b">
            <a:normAutofit/>
          </a:bodyPr>
          <a:lstStyle/>
          <a:p>
            <a:r>
              <a:rPr lang="pt-BR" b="1" dirty="0"/>
              <a:t>3. Controlador (</a:t>
            </a:r>
            <a:r>
              <a:rPr lang="pt-BR" b="1" dirty="0" err="1"/>
              <a:t>Controller</a:t>
            </a:r>
            <a:r>
              <a:rPr lang="pt-BR" b="1" dirty="0"/>
              <a:t>)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B60520D-100F-67A5-5640-7443A0B19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pt-BR" sz="2800" dirty="0"/>
              <a:t>O maestro da aplicação. Recebe e interpreta eventos do usuário, traduzindo-os em ações para o Modelo e selecionando a Visão apropriada a ser exibida. </a:t>
            </a:r>
            <a:r>
              <a:rPr lang="pt-BR" sz="2800" b="1" dirty="0"/>
              <a:t>Ele media a interação entre Visão e Modelo.</a:t>
            </a:r>
            <a:endParaRPr lang="pt-BR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9851F9-EFBA-C69A-F07A-035F83033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89"/>
          <a:stretch>
            <a:fillRect/>
          </a:stretch>
        </p:blipFill>
        <p:spPr bwMode="auto">
          <a:xfrm>
            <a:off x="6188417" y="2228003"/>
            <a:ext cx="5422392" cy="363304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67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239BF-F401-0278-DCC8-AA9E759A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2E167D1-95A0-C0B5-FF3E-A08755DAE243}"/>
              </a:ext>
            </a:extLst>
          </p:cNvPr>
          <p:cNvSpPr/>
          <p:nvPr/>
        </p:nvSpPr>
        <p:spPr>
          <a:xfrm>
            <a:off x="581193" y="2228003"/>
            <a:ext cx="5201042" cy="2047186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674B24-F86F-5651-149C-57B3198FD283}"/>
              </a:ext>
            </a:extLst>
          </p:cNvPr>
          <p:cNvSpPr/>
          <p:nvPr/>
        </p:nvSpPr>
        <p:spPr>
          <a:xfrm>
            <a:off x="581193" y="4287660"/>
            <a:ext cx="5201042" cy="2047186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A06D79-142D-71DD-28DE-AD08515D1934}"/>
              </a:ext>
            </a:extLst>
          </p:cNvPr>
          <p:cNvSpPr/>
          <p:nvPr/>
        </p:nvSpPr>
        <p:spPr>
          <a:xfrm>
            <a:off x="5966013" y="2228979"/>
            <a:ext cx="5348960" cy="2047186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B891CA-161F-4977-929F-888DEDA4731C}"/>
              </a:ext>
            </a:extLst>
          </p:cNvPr>
          <p:cNvSpPr/>
          <p:nvPr/>
        </p:nvSpPr>
        <p:spPr>
          <a:xfrm>
            <a:off x="5966013" y="4288636"/>
            <a:ext cx="5348960" cy="2047186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0A8154-328F-21B6-53CF-9277843C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/>
          <a:p>
            <a:r>
              <a:rPr lang="pt-BR" sz="4000" b="1" dirty="0"/>
              <a:t>Características Essenciais do MVC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C9F8BA1-57DA-728F-6E19-058EB4E94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308619" cy="2034715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pt-BR" sz="2800" b="1" dirty="0"/>
              <a:t>Organização em Camadas</a:t>
            </a:r>
          </a:p>
          <a:p>
            <a:r>
              <a:rPr lang="pt-BR" sz="2800" dirty="0"/>
              <a:t>A estrutura em camadas é a base do MVC, promovendo a independência entre os componentes e assegurando a eficiência e facilidade de manutenção a longo prazo.</a:t>
            </a:r>
          </a:p>
        </p:txBody>
      </p:sp>
      <p:sp>
        <p:nvSpPr>
          <p:cNvPr id="5" name="Espaço Reservado para Conteúdo 6">
            <a:extLst>
              <a:ext uri="{FF2B5EF4-FFF2-40B4-BE49-F238E27FC236}">
                <a16:creationId xmlns:a16="http://schemas.microsoft.com/office/drawing/2014/main" id="{78735308-8156-BAB3-A03D-DC74D49088AE}"/>
              </a:ext>
            </a:extLst>
          </p:cNvPr>
          <p:cNvSpPr txBox="1">
            <a:spLocks/>
          </p:cNvSpPr>
          <p:nvPr/>
        </p:nvSpPr>
        <p:spPr>
          <a:xfrm>
            <a:off x="581193" y="4275189"/>
            <a:ext cx="5308619" cy="185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/>
              <a:t>Protocolo de Subscrição/Notificação</a:t>
            </a:r>
          </a:p>
          <a:p>
            <a:r>
              <a:rPr lang="pt-BR" sz="2800" dirty="0"/>
              <a:t>Um mecanismo fundamental para desacoplar Visões e Modelos. O Modelo notifica as Visões (e Controladores) sobre mudanças em seu estado, permitindo que as Visões se atualizem de forma autônoma.</a:t>
            </a:r>
          </a:p>
        </p:txBody>
      </p:sp>
      <p:sp>
        <p:nvSpPr>
          <p:cNvPr id="6" name="Espaço Reservado para Conteúdo 6">
            <a:extLst>
              <a:ext uri="{FF2B5EF4-FFF2-40B4-BE49-F238E27FC236}">
                <a16:creationId xmlns:a16="http://schemas.microsoft.com/office/drawing/2014/main" id="{25507534-C3C1-FBE6-888F-40F1619E6A34}"/>
              </a:ext>
            </a:extLst>
          </p:cNvPr>
          <p:cNvSpPr txBox="1">
            <a:spLocks/>
          </p:cNvSpPr>
          <p:nvPr/>
        </p:nvSpPr>
        <p:spPr>
          <a:xfrm>
            <a:off x="5948083" y="2228003"/>
            <a:ext cx="5308619" cy="20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/>
              <a:t>Baixo Acoplamento e Alta Coesão</a:t>
            </a:r>
          </a:p>
          <a:p>
            <a:r>
              <a:rPr lang="pt-BR" sz="2800" dirty="0"/>
              <a:t>O MVC busca forte coesão (componentes com um único papel bem definido) e baixo acoplamento (dependência mínima entre classes), resultando em um sistema mais robusto e flexível.</a:t>
            </a:r>
          </a:p>
        </p:txBody>
      </p:sp>
      <p:sp>
        <p:nvSpPr>
          <p:cNvPr id="8" name="Espaço Reservado para Conteúdo 6">
            <a:extLst>
              <a:ext uri="{FF2B5EF4-FFF2-40B4-BE49-F238E27FC236}">
                <a16:creationId xmlns:a16="http://schemas.microsoft.com/office/drawing/2014/main" id="{CE60B265-BDD5-3C3B-CF1E-0A1D49DDE7BB}"/>
              </a:ext>
            </a:extLst>
          </p:cNvPr>
          <p:cNvSpPr txBox="1">
            <a:spLocks/>
          </p:cNvSpPr>
          <p:nvPr/>
        </p:nvSpPr>
        <p:spPr>
          <a:xfrm>
            <a:off x="5974977" y="4342424"/>
            <a:ext cx="5308619" cy="185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/>
              <a:t>Reutilização de Visões</a:t>
            </a:r>
            <a:endParaRPr lang="pt-BR" sz="2800" dirty="0"/>
          </a:p>
          <a:p>
            <a:r>
              <a:rPr lang="pt-BR" sz="2800" dirty="0"/>
              <a:t>Essa arquitetura permite criar múltiplas Visões para um mesmo Modelo sem modificá-lo, ideal para aplicações que precisam de diferentes interfaces em diversas plataformas (</a:t>
            </a:r>
            <a:r>
              <a:rPr lang="pt-BR" sz="2800" dirty="0" err="1"/>
              <a:t>ex</a:t>
            </a:r>
            <a:r>
              <a:rPr lang="pt-BR" sz="2800" dirty="0"/>
              <a:t>: web, mobile).</a:t>
            </a:r>
          </a:p>
        </p:txBody>
      </p:sp>
    </p:spTree>
    <p:extLst>
      <p:ext uri="{BB962C8B-B14F-4D97-AF65-F5344CB8AC3E}">
        <p14:creationId xmlns:p14="http://schemas.microsoft.com/office/powerpoint/2010/main" val="385745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0C632-108D-C142-5F59-92BD2310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A4D4B-47DA-72C8-D9AF-338C2876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Vantagens do MVC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F4A9EBEE-FBBB-68D7-11D5-6585C1C0A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pt-BR" sz="2800" dirty="0"/>
              <a:t>A utilização do MVC visa superar os desafios de manutenção de software, que consomem grande parte dos investimentos em TI.</a:t>
            </a:r>
          </a:p>
        </p:txBody>
      </p:sp>
    </p:spTree>
    <p:extLst>
      <p:ext uri="{BB962C8B-B14F-4D97-AF65-F5344CB8AC3E}">
        <p14:creationId xmlns:p14="http://schemas.microsoft.com/office/powerpoint/2010/main" val="2893933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2F78-290E-6A40-14C0-3E93DE59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160DB-D7BD-2F49-1E3E-1690FEB9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Desvantagens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E9B11EC0-1329-892C-602B-BFEEC76E7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pt-BR" sz="2800" dirty="0"/>
              <a:t>Complexidade Inicial: Pode ser um exagero para aplicações muito pequenas/simples.</a:t>
            </a:r>
          </a:p>
          <a:p>
            <a:endParaRPr lang="pt-BR" sz="2800" dirty="0"/>
          </a:p>
          <a:p>
            <a:r>
              <a:rPr lang="pt-BR" sz="2800" dirty="0"/>
              <a:t>Curva de Aprendizado: Exige disciplina e conhecimento técnico para separar corretamente as camadas.</a:t>
            </a:r>
          </a:p>
        </p:txBody>
      </p:sp>
    </p:spTree>
    <p:extLst>
      <p:ext uri="{BB962C8B-B14F-4D97-AF65-F5344CB8AC3E}">
        <p14:creationId xmlns:p14="http://schemas.microsoft.com/office/powerpoint/2010/main" val="12879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9D74F-10DB-6665-AB27-CBE1AC7E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679A7-D8F1-268D-9C0E-9F56A92B3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Modelo </a:t>
            </a:r>
            <a:endParaRPr lang="pt-BR" dirty="0"/>
          </a:p>
        </p:txBody>
      </p:sp>
      <p:pic>
        <p:nvPicPr>
          <p:cNvPr id="8" name="Espaço Reservado para Conteúdo 7" descr="Diagrama&#10;&#10;O conteúdo gerado por IA pode estar incorreto.">
            <a:extLst>
              <a:ext uri="{FF2B5EF4-FFF2-40B4-BE49-F238E27FC236}">
                <a16:creationId xmlns:a16="http://schemas.microsoft.com/office/drawing/2014/main" id="{5F69C113-1FF5-D699-1596-75D3F6CD40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7542" y="2074751"/>
            <a:ext cx="9826999" cy="44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EEA1-4CAD-2ED5-9318-6F8C9395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8083D-9684-AD36-DF5D-682E3C16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Modelo </a:t>
            </a:r>
            <a:endParaRPr lang="pt-BR" dirty="0"/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7CB47503-F4A9-0BA3-4938-8B6C54FBA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480" y="2134496"/>
            <a:ext cx="8618636" cy="43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E4B4A-4823-4304-4471-7EA5B3A8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BD33F-1BA8-86E5-BF9E-6D0B17CC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Modelo </a:t>
            </a:r>
            <a:endParaRPr lang="pt-BR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02BD12F-AF02-0FF6-3456-4B5740661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813" y="2107011"/>
            <a:ext cx="7365764" cy="448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2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2C31-05E0-CF4E-F908-2C35F7EC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34A64-8C13-D477-1FD9-AB803B8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Exemplo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F0E6FF9C-4643-CF29-E483-A7628EE33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pt-BR" sz="2800" dirty="0"/>
              <a:t>Model: Classe </a:t>
            </a:r>
            <a:r>
              <a:rPr lang="pt-BR" sz="2800" dirty="0">
                <a:highlight>
                  <a:srgbClr val="C0C0C0"/>
                </a:highlight>
              </a:rPr>
              <a:t>Produto.java </a:t>
            </a:r>
            <a:r>
              <a:rPr lang="pt-BR" sz="2800" dirty="0"/>
              <a:t>(contém atributos como nome e preço).</a:t>
            </a:r>
          </a:p>
          <a:p>
            <a:endParaRPr lang="pt-BR" sz="2800" dirty="0"/>
          </a:p>
          <a:p>
            <a:r>
              <a:rPr lang="pt-BR" sz="2800" dirty="0" err="1"/>
              <a:t>View</a:t>
            </a:r>
            <a:r>
              <a:rPr lang="pt-BR" sz="2800" dirty="0"/>
              <a:t>: </a:t>
            </a:r>
            <a:r>
              <a:rPr lang="pt-BR" sz="2800" dirty="0" err="1">
                <a:highlight>
                  <a:srgbClr val="C0C0C0"/>
                </a:highlight>
              </a:rPr>
              <a:t>formProduto.jsp</a:t>
            </a:r>
            <a:r>
              <a:rPr lang="pt-BR" sz="2800" dirty="0">
                <a:highlight>
                  <a:srgbClr val="C0C0C0"/>
                </a:highlight>
              </a:rPr>
              <a:t> </a:t>
            </a:r>
            <a:r>
              <a:rPr lang="pt-BR" sz="2800" dirty="0"/>
              <a:t>ou uma tela em Swing (contém campos de texto e botões).</a:t>
            </a:r>
          </a:p>
          <a:p>
            <a:endParaRPr lang="pt-BR" sz="2800" dirty="0"/>
          </a:p>
          <a:p>
            <a:r>
              <a:rPr lang="pt-BR" sz="2800" dirty="0" err="1"/>
              <a:t>Controller</a:t>
            </a:r>
            <a:r>
              <a:rPr lang="pt-BR" sz="2800" dirty="0"/>
              <a:t>: </a:t>
            </a:r>
            <a:r>
              <a:rPr lang="pt-BR" sz="2800" dirty="0">
                <a:highlight>
                  <a:srgbClr val="C0C0C0"/>
                </a:highlight>
              </a:rPr>
              <a:t>ProdutoServlet.java</a:t>
            </a:r>
            <a:r>
              <a:rPr lang="pt-BR" sz="2800" dirty="0"/>
              <a:t> (recebe o clique do botão, valida os dados e chama o método de salvar no Model).</a:t>
            </a:r>
          </a:p>
        </p:txBody>
      </p:sp>
    </p:spTree>
    <p:extLst>
      <p:ext uri="{BB962C8B-B14F-4D97-AF65-F5344CB8AC3E}">
        <p14:creationId xmlns:p14="http://schemas.microsoft.com/office/powerpoint/2010/main" val="1791310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D990-09E7-5BFA-B72C-6D0CA65A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17344-3E3E-AF47-E5CF-B1D7DBF9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Model (modelo)</a:t>
            </a:r>
          </a:p>
        </p:txBody>
      </p:sp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99251754-1277-0F2B-3BEE-76D5169A1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1" y="1973523"/>
            <a:ext cx="8509171" cy="47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35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DB74F-E340-4977-296E-FD7BF976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A3DF9-F5F9-41EB-CF70-00312976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View</a:t>
            </a:r>
            <a:r>
              <a:rPr lang="pt-BR" b="1" dirty="0"/>
              <a:t> (visão)</a:t>
            </a:r>
          </a:p>
        </p:txBody>
      </p:sp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781523BB-2A35-DD8E-C4B1-9BCFCE0C3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236" y="1826473"/>
            <a:ext cx="8958486" cy="503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91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107C-3F65-029D-FEB8-8E951D1E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6BC95-D137-18CA-14C8-67824AF1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View</a:t>
            </a:r>
            <a:r>
              <a:rPr lang="pt-BR" b="1" dirty="0"/>
              <a:t> (visão)</a:t>
            </a:r>
          </a:p>
        </p:txBody>
      </p:sp>
      <p:pic>
        <p:nvPicPr>
          <p:cNvPr id="5122" name="Picture 2" descr="Página JSP – Interface&#10;para entrada de dados para o cálculo de juros">
            <a:extLst>
              <a:ext uri="{FF2B5EF4-FFF2-40B4-BE49-F238E27FC236}">
                <a16:creationId xmlns:a16="http://schemas.microsoft.com/office/drawing/2014/main" id="{0A612F9E-1F29-4C11-B70D-D381A6B6C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14" y="1951378"/>
            <a:ext cx="4402009" cy="295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ágina JSP – Interface&#10;para entrada de dados para o cálculo de juros">
            <a:extLst>
              <a:ext uri="{FF2B5EF4-FFF2-40B4-BE49-F238E27FC236}">
                <a16:creationId xmlns:a16="http://schemas.microsoft.com/office/drawing/2014/main" id="{E7BA9186-1AE1-D17C-0A8E-EBB33B03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978" y="1951378"/>
            <a:ext cx="4402009" cy="295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14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E61B-D542-2FCE-018A-99DEE01FC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E74A9-F8C0-2B73-4E72-E16204AE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View</a:t>
            </a:r>
            <a:r>
              <a:rPr lang="pt-BR" b="1" dirty="0"/>
              <a:t> (visão)</a:t>
            </a:r>
          </a:p>
        </p:txBody>
      </p:sp>
      <p:pic>
        <p:nvPicPr>
          <p:cNvPr id="6148" name="Picture 4" descr="Página JSP –&#10;cabecalho.jsp">
            <a:extLst>
              <a:ext uri="{FF2B5EF4-FFF2-40B4-BE49-F238E27FC236}">
                <a16:creationId xmlns:a16="http://schemas.microsoft.com/office/drawing/2014/main" id="{D2958374-5EDA-2F53-8E85-D62D342E4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1951378"/>
            <a:ext cx="5514808" cy="3702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ágina JSP – rodape.jsp">
            <a:extLst>
              <a:ext uri="{FF2B5EF4-FFF2-40B4-BE49-F238E27FC236}">
                <a16:creationId xmlns:a16="http://schemas.microsoft.com/office/drawing/2014/main" id="{EAF89226-54E4-ABE8-EA26-8356F5690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399" y="1951378"/>
            <a:ext cx="5514808" cy="3702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635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3586-BB14-C89D-F007-9151138E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E723D-0068-58B6-50BD-81CD327B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Controller</a:t>
            </a:r>
            <a:r>
              <a:rPr lang="pt-BR" b="1" dirty="0"/>
              <a:t> (controlador)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DAE4F6C-C396-FC35-B473-454A62E9E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363" y="1887816"/>
            <a:ext cx="8330855" cy="467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9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CF20-B571-E316-6203-BBC45C8C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A1C91-42EA-FF42-2896-D235D532A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Controller</a:t>
            </a:r>
            <a:r>
              <a:rPr lang="pt-BR" b="1" dirty="0"/>
              <a:t> (controlador)</a:t>
            </a: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EBE5BCE9-81FF-3DA5-570E-EDF24BC8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158" y="1937858"/>
            <a:ext cx="8541683" cy="45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97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05167-C98D-51D7-80A6-FF6E9007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B8BCE-BBD4-42DC-2A4E-481E7A09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Controller</a:t>
            </a:r>
            <a:r>
              <a:rPr lang="pt-BR" b="1" dirty="0"/>
              <a:t> (controlador)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E3829FD8-5C28-EB6E-482F-B88C245A2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3" y="2509709"/>
            <a:ext cx="11335133" cy="364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79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D314-F724-FAD7-9775-7BFA4437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0DDF0-4804-5020-4204-352130BC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Camada </a:t>
            </a:r>
            <a:r>
              <a:rPr lang="pt-BR" b="1" dirty="0" err="1"/>
              <a:t>Controller</a:t>
            </a:r>
            <a:r>
              <a:rPr lang="pt-BR" b="1" dirty="0"/>
              <a:t> (controlador)</a:t>
            </a:r>
          </a:p>
        </p:txBody>
      </p:sp>
      <p:pic>
        <p:nvPicPr>
          <p:cNvPr id="7170" name="Picture 2" descr="Página Jsp – Interface&#10;para retornar ao usuário o resultado do cálculo de juros">
            <a:extLst>
              <a:ext uri="{FF2B5EF4-FFF2-40B4-BE49-F238E27FC236}">
                <a16:creationId xmlns:a16="http://schemas.microsoft.com/office/drawing/2014/main" id="{E673A0EB-0ADC-879E-7175-BC8091A7A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169739"/>
            <a:ext cx="61150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062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92C33-2BB3-A95E-4785-00E3FBF36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E4EE8-854D-5CE8-E6C8-72AC2C7D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r>
              <a:rPr lang="pt-BR" b="1" dirty="0"/>
              <a:t>Referencias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BEBD92-BF11-D236-9ECE-EB26CC7B2710}"/>
              </a:ext>
            </a:extLst>
          </p:cNvPr>
          <p:cNvSpPr txBox="1"/>
          <p:nvPr/>
        </p:nvSpPr>
        <p:spPr>
          <a:xfrm>
            <a:off x="581192" y="2097741"/>
            <a:ext cx="109160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Referência Bibliográfica:</a:t>
            </a:r>
            <a:r>
              <a:rPr lang="pt-BR" dirty="0"/>
              <a:t> </a:t>
            </a:r>
            <a:r>
              <a:rPr lang="pt-BR" dirty="0" err="1"/>
              <a:t>DEVMedia</a:t>
            </a:r>
            <a:r>
              <a:rPr lang="pt-BR" dirty="0"/>
              <a:t>. </a:t>
            </a:r>
            <a:r>
              <a:rPr lang="pt-BR" b="1" dirty="0"/>
              <a:t>Padrão MVC – Java Magazine</a:t>
            </a:r>
            <a:r>
              <a:rPr lang="pt-BR" dirty="0"/>
              <a:t>. Disponível em: https://www.devmedia.com.br/</a:t>
            </a:r>
            <a:r>
              <a:rPr lang="pt-BR" dirty="0" err="1"/>
              <a:t>padrao</a:t>
            </a:r>
            <a:r>
              <a:rPr lang="pt-BR" dirty="0"/>
              <a:t>-</a:t>
            </a:r>
            <a:r>
              <a:rPr lang="pt-BR" dirty="0" err="1"/>
              <a:t>mvc</a:t>
            </a:r>
            <a:r>
              <a:rPr lang="pt-BR" dirty="0"/>
              <a:t>-</a:t>
            </a:r>
            <a:r>
              <a:rPr lang="pt-BR" dirty="0" err="1"/>
              <a:t>java</a:t>
            </a:r>
            <a:r>
              <a:rPr lang="pt-BR" dirty="0"/>
              <a:t>-magazine/21995. Acesso em: 17 dez. 2025.</a:t>
            </a:r>
          </a:p>
          <a:p>
            <a:endParaRPr lang="pt-BR" dirty="0"/>
          </a:p>
          <a:p>
            <a:r>
              <a:rPr lang="pt-BR" dirty="0"/>
              <a:t>REENSKAUG, T.M.H. </a:t>
            </a:r>
            <a:r>
              <a:rPr lang="pt-BR" i="1" dirty="0"/>
              <a:t>MVC</a:t>
            </a:r>
            <a:r>
              <a:rPr lang="pt-BR" dirty="0"/>
              <a:t>. 2010. Demonstra o padrão de arquitetura MVC. Disponível </a:t>
            </a:r>
            <a:r>
              <a:rPr lang="pt-BR" dirty="0" err="1"/>
              <a:t>em:</a:t>
            </a:r>
            <a:r>
              <a:rPr lang="pt-BR" dirty="0" err="1">
                <a:hlinkClick r:id="rId3"/>
              </a:rPr>
              <a:t>http</a:t>
            </a:r>
            <a:r>
              <a:rPr lang="pt-BR" dirty="0">
                <a:hlinkClick r:id="rId3"/>
              </a:rPr>
              <a:t>://pt.wikipedia.org/wiki/MVC</a:t>
            </a:r>
            <a:r>
              <a:rPr lang="pt-BR" dirty="0"/>
              <a:t>. Acesso </a:t>
            </a:r>
            <a:r>
              <a:rPr lang="pt-BR"/>
              <a:t>em 17 </a:t>
            </a:r>
            <a:r>
              <a:rPr lang="pt-BR" dirty="0"/>
              <a:t>jan</a:t>
            </a:r>
            <a:r>
              <a:rPr lang="pt-BR"/>
              <a:t>.2025.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139974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{AA301E24-8AE1-4D5A-A6F8-A35AB8CFECD9}TF9cd6fad6-da1d-416b-8dc8-a086cd1045b136a2ac61_win32-213b552fe10f</Template>
  <TotalTime>302</TotalTime>
  <Words>641</Words>
  <Application>Microsoft Office PowerPoint</Application>
  <PresentationFormat>Widescreen</PresentationFormat>
  <Paragraphs>73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Gill Sans MT</vt:lpstr>
      <vt:lpstr>Wingdings 2</vt:lpstr>
      <vt:lpstr>Personalizado</vt:lpstr>
      <vt:lpstr>Arquitetura Modelo-Visão-Controlador (mvc)</vt:lpstr>
      <vt:lpstr>objetivo do MVC</vt:lpstr>
      <vt:lpstr>Os Três Pilares do MVC</vt:lpstr>
      <vt:lpstr>3. Modelo (Model)</vt:lpstr>
      <vt:lpstr>3. Controlador (Controller)</vt:lpstr>
      <vt:lpstr>Características Essenciais do MVC</vt:lpstr>
      <vt:lpstr>Vantagens do MVC</vt:lpstr>
      <vt:lpstr>Desvantagens</vt:lpstr>
      <vt:lpstr>Modelo </vt:lpstr>
      <vt:lpstr>Modelo </vt:lpstr>
      <vt:lpstr>Modelo </vt:lpstr>
      <vt:lpstr>Exemplo</vt:lpstr>
      <vt:lpstr>Camada Model (modelo)</vt:lpstr>
      <vt:lpstr>Camada View (visão)</vt:lpstr>
      <vt:lpstr>Camada View (visão)</vt:lpstr>
      <vt:lpstr>Camada View (visão)</vt:lpstr>
      <vt:lpstr>Camada Controller (controlador)</vt:lpstr>
      <vt:lpstr>Camada Controller (controlador)</vt:lpstr>
      <vt:lpstr>Camada Controller (controlador)</vt:lpstr>
      <vt:lpstr>Camada Controller (controlador)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Mendonca</dc:creator>
  <cp:lastModifiedBy>Rafael Mendonca</cp:lastModifiedBy>
  <cp:revision>1</cp:revision>
  <dcterms:created xsi:type="dcterms:W3CDTF">2025-12-17T17:44:35Z</dcterms:created>
  <dcterms:modified xsi:type="dcterms:W3CDTF">2025-12-17T22:47:25Z</dcterms:modified>
</cp:coreProperties>
</file>